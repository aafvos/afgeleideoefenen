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25535" y="2011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800" b="0">
                <a:solidFill>
                  <a:srgbClr val="1A1A18"/>
                </a:solidFill>
                <a:latin typeface="DM Serif Display"/>
              </a:rPr>
              <a:t>afgeleide</a:t>
            </a:r>
            <a:r>
              <a:rPr sz="1800" b="0">
                <a:solidFill>
                  <a:srgbClr val="2D6A4F"/>
                </a:solidFill>
                <a:latin typeface="DM Serif Display"/>
              </a:rPr>
              <a:t>oefenen</a:t>
            </a:r>
            <a:r>
              <a:rPr sz="1800" b="0">
                <a:solidFill>
                  <a:srgbClr val="1A1A18"/>
                </a:solidFill>
                <a:latin typeface="DM Serif Display"/>
              </a:rPr>
              <a:t>.nl</a:t>
            </a:r>
          </a:p>
        </p:txBody>
      </p:sp>
      <p:pic>
        <p:nvPicPr>
          <p:cNvPr id="3" name="Picture 2" descr="aaf-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5895" y="4526280"/>
            <a:ext cx="163576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1920240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1A1A18"/>
                </a:solidFill>
                <a:latin typeface="DM Serif Display"/>
              </a:rPr>
              <a:t>H2 · </a:t>
            </a:r>
            <a:r>
              <a:rPr sz="6000" b="1">
                <a:solidFill>
                  <a:srgbClr val="2D6A4F"/>
                </a:solidFill>
                <a:latin typeface="DM Serif Display"/>
              </a:rPr>
              <a:t>#29</a:t>
            </a:r>
          </a:p>
        </p:txBody>
      </p:sp>
      <p:pic>
        <p:nvPicPr>
          <p:cNvPr id="5" name="Picture 4" descr="opg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3291840"/>
            <a:ext cx="4937760" cy="56342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25535" y="2011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800" b="0">
                <a:solidFill>
                  <a:srgbClr val="1A1A18"/>
                </a:solidFill>
                <a:latin typeface="DM Serif Display"/>
              </a:rPr>
              <a:t>afgeleide</a:t>
            </a:r>
            <a:r>
              <a:rPr sz="1800" b="0">
                <a:solidFill>
                  <a:srgbClr val="2D6A4F"/>
                </a:solidFill>
                <a:latin typeface="DM Serif Display"/>
              </a:rPr>
              <a:t>oefenen</a:t>
            </a:r>
            <a:r>
              <a:rPr sz="1800" b="0">
                <a:solidFill>
                  <a:srgbClr val="1A1A18"/>
                </a:solidFill>
                <a:latin typeface="DM Serif Display"/>
              </a:rPr>
              <a:t>.nl</a:t>
            </a:r>
          </a:p>
        </p:txBody>
      </p:sp>
      <p:pic>
        <p:nvPicPr>
          <p:cNvPr id="3" name="Picture 2" descr="aaf-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5895" y="4526280"/>
            <a:ext cx="163576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11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1A1A18"/>
                </a:solidFill>
                <a:latin typeface="DM Serif Display"/>
              </a:rPr>
              <a:t>Stap 0 · </a:t>
            </a:r>
            <a:r>
              <a:rPr sz="3200" b="1">
                <a:solidFill>
                  <a:srgbClr val="2D6A4F"/>
                </a:solidFill>
                <a:latin typeface="DM Serif Display"/>
              </a:rPr>
              <a:t>Analyseer de buitenste schil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82579" y="1563624"/>
            <a:ext cx="362534" cy="566928"/>
          </a:xfrm>
          <a:prstGeom prst="roundRect">
            <a:avLst>
              <a:gd name="adj" fmla="val 12000"/>
            </a:avLst>
          </a:prstGeom>
          <a:solidFill>
            <a:srgbClr val="FB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pg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600200"/>
            <a:ext cx="4754880" cy="542554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4740684" y="1453896"/>
            <a:ext cx="407306" cy="835161"/>
          </a:xfrm>
          <a:prstGeom prst="ellipse">
            <a:avLst/>
          </a:prstGeom>
          <a:noFill/>
          <a:ln w="3175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31985" y="1453896"/>
            <a:ext cx="2505590" cy="835161"/>
          </a:xfrm>
          <a:prstGeom prst="ellipse">
            <a:avLst/>
          </a:prstGeom>
          <a:noFill/>
          <a:ln w="31750">
            <a:solidFill>
              <a:srgbClr val="C94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306324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800" b="1">
                <a:solidFill>
                  <a:srgbClr val="2D6A4F"/>
                </a:solidFill>
                <a:latin typeface="DM Sans"/>
              </a:rPr>
              <a:t>Somregel!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411480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gel-s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8880" y="4297680"/>
            <a:ext cx="6035040" cy="34741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5" grpId="0"/>
      <p:bldP spid="5" grpId="0"/>
      <p:bldP spid="7" grpId="0"/>
      <p:bldP spid="8" grpId="0"/>
      <p:bldP spid="9" grpId="0"/>
      <p:bldP spid="10" grpId="0"/>
      <p:bldP spid="11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25535" y="2011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800" b="0">
                <a:solidFill>
                  <a:srgbClr val="1A1A18"/>
                </a:solidFill>
                <a:latin typeface="DM Serif Display"/>
              </a:rPr>
              <a:t>afgeleide</a:t>
            </a:r>
            <a:r>
              <a:rPr sz="1800" b="0">
                <a:solidFill>
                  <a:srgbClr val="2D6A4F"/>
                </a:solidFill>
                <a:latin typeface="DM Serif Display"/>
              </a:rPr>
              <a:t>oefenen</a:t>
            </a:r>
            <a:r>
              <a:rPr sz="1800" b="0">
                <a:solidFill>
                  <a:srgbClr val="1A1A18"/>
                </a:solidFill>
                <a:latin typeface="DM Serif Display"/>
              </a:rPr>
              <a:t>.nl</a:t>
            </a:r>
          </a:p>
        </p:txBody>
      </p:sp>
      <p:pic>
        <p:nvPicPr>
          <p:cNvPr id="3" name="Picture 2" descr="aaf-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5895" y="4526280"/>
            <a:ext cx="163576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1A1A18"/>
                </a:solidFill>
                <a:latin typeface="DM Serif Display"/>
              </a:rPr>
              <a:t>De </a:t>
            </a:r>
            <a:r>
              <a:rPr sz="3200" b="1">
                <a:solidFill>
                  <a:srgbClr val="2D6A4F"/>
                </a:solidFill>
                <a:latin typeface="DM Serif Display"/>
              </a:rPr>
              <a:t>somregel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86868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gel-s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051560"/>
            <a:ext cx="6035040" cy="347412"/>
          </a:xfrm>
          <a:prstGeom prst="rect">
            <a:avLst/>
          </a:prstGeom>
        </p:spPr>
      </p:pic>
      <p:pic>
        <p:nvPicPr>
          <p:cNvPr id="7" name="Picture 6" descr="opga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874519"/>
            <a:ext cx="4023360" cy="4590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36896" y="235189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2D6A4F"/>
                </a:solidFill>
                <a:latin typeface="DM Serif Display"/>
              </a:rPr>
              <a:t>g(q)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8223" y="235189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2D6A4F"/>
                </a:solidFill>
                <a:latin typeface="DM Serif Display"/>
              </a:rPr>
              <a:t>h(q)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8892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</a:rPr>
              <a:t>Stap 1 · kies g en h</a:t>
            </a:r>
          </a:p>
        </p:txBody>
      </p:sp>
      <p:pic>
        <p:nvPicPr>
          <p:cNvPr id="11" name="Picture 10" descr="som-g-de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9020" y="2743200"/>
            <a:ext cx="1234440" cy="353379"/>
          </a:xfrm>
          <a:prstGeom prst="rect">
            <a:avLst/>
          </a:prstGeom>
        </p:spPr>
      </p:pic>
      <p:pic>
        <p:nvPicPr>
          <p:cNvPr id="12" name="Picture 11" descr="som-h-d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743200"/>
            <a:ext cx="2743200" cy="40658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5800" y="34290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</a:rPr>
              <a:t>Stap 2 · bereken g′ en h′</a:t>
            </a:r>
          </a:p>
        </p:txBody>
      </p:sp>
      <p:pic>
        <p:nvPicPr>
          <p:cNvPr id="14" name="Picture 13" descr="som-g-afgelei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9020" y="3383280"/>
            <a:ext cx="1417320" cy="3732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12080" y="3456432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7A7870"/>
                </a:solidFill>
                <a:latin typeface="DM Sans"/>
              </a:rPr>
              <a:t>(er zit geen q in)</a:t>
            </a:r>
          </a:p>
        </p:txBody>
      </p:sp>
      <p:pic>
        <p:nvPicPr>
          <p:cNvPr id="16" name="Picture 15" descr="som-h-d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4023360"/>
            <a:ext cx="2743200" cy="40658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0" y="45262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7A7870"/>
                </a:solidFill>
                <a:latin typeface="DM Sans"/>
              </a:rPr>
              <a:t>↓</a:t>
            </a:r>
          </a:p>
        </p:txBody>
      </p:sp>
      <p:pic>
        <p:nvPicPr>
          <p:cNvPr id="18" name="Picture 17" descr="som-h-produ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0" y="4983480"/>
            <a:ext cx="4206240" cy="39686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08960" y="5532120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7A7870"/>
                </a:solidFill>
                <a:latin typeface="DM Sans"/>
              </a:rPr>
              <a:t>handig: schrijf een kwadraat altijd op als de term keer zichzelf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98932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B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600" b="1">
                <a:solidFill>
                  <a:srgbClr val="C94F4A"/>
                </a:solidFill>
                <a:latin typeface="DM Sans"/>
              </a:rPr>
              <a:t>Productregel!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8" grpId="0"/>
      <p:bldP spid="9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25535" y="2011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800" b="0">
                <a:solidFill>
                  <a:srgbClr val="1A1A18"/>
                </a:solidFill>
                <a:latin typeface="DM Serif Display"/>
              </a:rPr>
              <a:t>afgeleide</a:t>
            </a:r>
            <a:r>
              <a:rPr sz="1800" b="0">
                <a:solidFill>
                  <a:srgbClr val="2D6A4F"/>
                </a:solidFill>
                <a:latin typeface="DM Serif Display"/>
              </a:rPr>
              <a:t>oefenen</a:t>
            </a:r>
            <a:r>
              <a:rPr sz="1800" b="0">
                <a:solidFill>
                  <a:srgbClr val="1A1A18"/>
                </a:solidFill>
                <a:latin typeface="DM Serif Display"/>
              </a:rPr>
              <a:t>.nl</a:t>
            </a:r>
          </a:p>
        </p:txBody>
      </p:sp>
      <p:pic>
        <p:nvPicPr>
          <p:cNvPr id="3" name="Picture 2" descr="aaf-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5895" y="4526280"/>
            <a:ext cx="163576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1A1A18"/>
                </a:solidFill>
                <a:latin typeface="DM Serif Display"/>
              </a:rPr>
              <a:t>De </a:t>
            </a:r>
            <a:r>
              <a:rPr sz="3200" b="1">
                <a:solidFill>
                  <a:srgbClr val="C94F4A"/>
                </a:solidFill>
                <a:latin typeface="DM Serif Display"/>
              </a:rPr>
              <a:t>productregel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868680"/>
            <a:ext cx="8412480" cy="777240"/>
          </a:xfrm>
          <a:prstGeom prst="roundRect">
            <a:avLst>
              <a:gd name="adj" fmla="val 12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gel-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051560"/>
            <a:ext cx="7498080" cy="3445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74519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A7870"/>
                </a:solidFill>
                <a:latin typeface="DM Sans"/>
              </a:rPr>
              <a:t>de functie van de vorige pagina noemen we hier f</a:t>
            </a:r>
          </a:p>
        </p:txBody>
      </p:sp>
      <p:pic>
        <p:nvPicPr>
          <p:cNvPr id="8" name="Picture 7" descr="prod-f-d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2194560"/>
            <a:ext cx="4754880" cy="45093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" y="292608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</a:rPr>
              <a:t>Stap 1 · kies g en h</a:t>
            </a:r>
          </a:p>
        </p:txBody>
      </p:sp>
      <p:pic>
        <p:nvPicPr>
          <p:cNvPr id="10" name="Picture 9" descr="g-de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2880360"/>
            <a:ext cx="1920240" cy="340822"/>
          </a:xfrm>
          <a:prstGeom prst="rect">
            <a:avLst/>
          </a:prstGeom>
        </p:spPr>
      </p:pic>
      <p:pic>
        <p:nvPicPr>
          <p:cNvPr id="11" name="Picture 10" descr="h-d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2880360"/>
            <a:ext cx="1920240" cy="33666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5800" y="352044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</a:rPr>
              <a:t>Stap 2 · bereken g′ en h′</a:t>
            </a:r>
          </a:p>
        </p:txBody>
      </p:sp>
      <p:pic>
        <p:nvPicPr>
          <p:cNvPr id="13" name="Picture 12" descr="g-afgelei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1920" y="3474720"/>
            <a:ext cx="1463040" cy="333123"/>
          </a:xfrm>
          <a:prstGeom prst="rect">
            <a:avLst/>
          </a:prstGeom>
        </p:spPr>
      </p:pic>
      <p:pic>
        <p:nvPicPr>
          <p:cNvPr id="14" name="Picture 13" descr="h-afgelei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474720"/>
            <a:ext cx="1463040" cy="326113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85800" y="41148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</a:rPr>
              <a:t>Stap 3 · vul de formule in</a:t>
            </a:r>
          </a:p>
        </p:txBody>
      </p:sp>
      <p:pic>
        <p:nvPicPr>
          <p:cNvPr id="16" name="Picture 15" descr="stap3-symbolis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80560" y="4069080"/>
            <a:ext cx="4572000" cy="341573"/>
          </a:xfrm>
          <a:prstGeom prst="rect">
            <a:avLst/>
          </a:prstGeom>
        </p:spPr>
      </p:pic>
      <p:pic>
        <p:nvPicPr>
          <p:cNvPr id="17" name="Picture 16" descr="stap3-ingevul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06240" y="4617720"/>
            <a:ext cx="5120640" cy="355722"/>
          </a:xfrm>
          <a:prstGeom prst="rect">
            <a:avLst/>
          </a:prstGeom>
        </p:spPr>
      </p:pic>
      <p:pic>
        <p:nvPicPr>
          <p:cNvPr id="18" name="Picture 17" descr="stap3-sam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12080" y="5166360"/>
            <a:ext cx="3108960" cy="356189"/>
          </a:xfrm>
          <a:prstGeom prst="rect">
            <a:avLst/>
          </a:prstGeom>
        </p:spPr>
      </p:pic>
      <p:pic>
        <p:nvPicPr>
          <p:cNvPr id="19" name="Picture 18" descr="prod-antwoor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20640" y="5715000"/>
            <a:ext cx="3291840" cy="39594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25535" y="2011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800" b="0">
                <a:solidFill>
                  <a:srgbClr val="1A1A18"/>
                </a:solidFill>
                <a:latin typeface="DM Serif Display"/>
              </a:rPr>
              <a:t>afgeleide</a:t>
            </a:r>
            <a:r>
              <a:rPr sz="1800" b="0">
                <a:solidFill>
                  <a:srgbClr val="2D6A4F"/>
                </a:solidFill>
                <a:latin typeface="DM Serif Display"/>
              </a:rPr>
              <a:t>oefenen</a:t>
            </a:r>
            <a:r>
              <a:rPr sz="1800" b="0">
                <a:solidFill>
                  <a:srgbClr val="1A1A18"/>
                </a:solidFill>
                <a:latin typeface="DM Serif Display"/>
              </a:rPr>
              <a:t>.nl</a:t>
            </a:r>
          </a:p>
        </p:txBody>
      </p:sp>
      <p:pic>
        <p:nvPicPr>
          <p:cNvPr id="3" name="Picture 2" descr="aaf-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5895" y="4526280"/>
            <a:ext cx="163576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57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1A1A18"/>
                </a:solidFill>
                <a:latin typeface="DM Serif Display"/>
              </a:rPr>
              <a:t>Voeg alles </a:t>
            </a:r>
            <a:r>
              <a:rPr sz="3200" b="1">
                <a:solidFill>
                  <a:srgbClr val="2D6A4F"/>
                </a:solidFill>
                <a:latin typeface="DM Serif Display"/>
              </a:rPr>
              <a:t>samen</a:t>
            </a:r>
          </a:p>
        </p:txBody>
      </p:sp>
      <p:pic>
        <p:nvPicPr>
          <p:cNvPr id="5" name="Picture 4" descr="opg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325880"/>
            <a:ext cx="4023360" cy="459084"/>
          </a:xfrm>
          <a:prstGeom prst="rect">
            <a:avLst/>
          </a:prstGeom>
        </p:spPr>
      </p:pic>
      <p:pic>
        <p:nvPicPr>
          <p:cNvPr id="6" name="Picture 5" descr="samen-h-afgele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2377440"/>
            <a:ext cx="3657600" cy="440243"/>
          </a:xfrm>
          <a:prstGeom prst="rect">
            <a:avLst/>
          </a:prstGeom>
        </p:spPr>
      </p:pic>
      <p:pic>
        <p:nvPicPr>
          <p:cNvPr id="7" name="Picture 6" descr="samen-symbolis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0" y="3291840"/>
            <a:ext cx="3291840" cy="366510"/>
          </a:xfrm>
          <a:prstGeom prst="rect">
            <a:avLst/>
          </a:prstGeom>
        </p:spPr>
      </p:pic>
      <p:pic>
        <p:nvPicPr>
          <p:cNvPr id="8" name="Picture 7" descr="samen-ingevu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0" y="4206240"/>
            <a:ext cx="4023360" cy="395524"/>
          </a:xfrm>
          <a:prstGeom prst="rect">
            <a:avLst/>
          </a:prstGeom>
        </p:spPr>
      </p:pic>
      <p:pic>
        <p:nvPicPr>
          <p:cNvPr id="9" name="Picture 8" descr="eindantwoo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08960" y="5212080"/>
            <a:ext cx="4754880" cy="4846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