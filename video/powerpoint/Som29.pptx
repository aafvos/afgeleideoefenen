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25535" y="20116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1A1A18"/>
                </a:solidFill>
                <a:latin typeface="DM Serif Display"/>
              </a:rPr>
              <a:t>afgeleide</a:t>
            </a:r>
            <a:r>
              <a:rPr sz="1800" b="0">
                <a:solidFill>
                  <a:srgbClr val="2D6A4F"/>
                </a:solidFill>
                <a:latin typeface="DM Serif Display"/>
              </a:rPr>
              <a:t>oefenen</a:t>
            </a:r>
            <a:r>
              <a:rPr sz="1800" b="0">
                <a:solidFill>
                  <a:srgbClr val="1A1A18"/>
                </a:solidFill>
                <a:latin typeface="DM Serif Display"/>
              </a:rPr>
              <a:t>.nl</a:t>
            </a:r>
          </a:p>
        </p:txBody>
      </p:sp>
      <p:pic>
        <p:nvPicPr>
          <p:cNvPr id="3" name="Picture 2" descr="aaf-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895" y="4526280"/>
            <a:ext cx="163576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182880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2D6A4F"/>
                </a:solidFill>
                <a:latin typeface="DM Serif Display"/>
              </a:rPr>
              <a:t>#29</a:t>
            </a:r>
          </a:p>
        </p:txBody>
      </p:sp>
      <p:pic>
        <p:nvPicPr>
          <p:cNvPr id="5" name="Picture 4" descr="opg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3200400"/>
            <a:ext cx="4937760" cy="5634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25535" y="20116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1A1A18"/>
                </a:solidFill>
                <a:latin typeface="DM Serif Display"/>
              </a:rPr>
              <a:t>afgeleide</a:t>
            </a:r>
            <a:r>
              <a:rPr sz="1800" b="0">
                <a:solidFill>
                  <a:srgbClr val="2D6A4F"/>
                </a:solidFill>
                <a:latin typeface="DM Serif Display"/>
              </a:rPr>
              <a:t>oefenen</a:t>
            </a:r>
            <a:r>
              <a:rPr sz="1800" b="0">
                <a:solidFill>
                  <a:srgbClr val="1A1A18"/>
                </a:solidFill>
                <a:latin typeface="DM Serif Display"/>
              </a:rPr>
              <a:t>.nl</a:t>
            </a:r>
          </a:p>
        </p:txBody>
      </p:sp>
      <p:pic>
        <p:nvPicPr>
          <p:cNvPr id="3" name="Picture 2" descr="aaf-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895" y="4526280"/>
            <a:ext cx="1635760" cy="2103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682579" y="740664"/>
            <a:ext cx="362534" cy="566928"/>
          </a:xfrm>
          <a:prstGeom prst="roundRect">
            <a:avLst>
              <a:gd name="adj" fmla="val 12000"/>
            </a:avLst>
          </a:prstGeom>
          <a:solidFill>
            <a:srgbClr val="FB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pg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777240"/>
            <a:ext cx="4754880" cy="542554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731540" y="630936"/>
            <a:ext cx="480458" cy="835161"/>
          </a:xfrm>
          <a:prstGeom prst="ellipse">
            <a:avLst/>
          </a:prstGeom>
          <a:noFill/>
          <a:ln w="3175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90713" y="630936"/>
            <a:ext cx="3056006" cy="835161"/>
          </a:xfrm>
          <a:prstGeom prst="ellipse">
            <a:avLst/>
          </a:prstGeom>
          <a:noFill/>
          <a:ln w="31750">
            <a:solidFill>
              <a:srgbClr val="C94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783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7A7870"/>
                </a:solidFill>
                <a:latin typeface="DM Sans"/>
              </a:rPr>
              <a:t>↓</a:t>
            </a:r>
          </a:p>
        </p:txBody>
      </p:sp>
      <p:pic>
        <p:nvPicPr>
          <p:cNvPr id="9" name="Picture 8" descr="opg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331720"/>
            <a:ext cx="4754880" cy="542554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 flipV="1">
            <a:off x="4731540" y="2295144"/>
            <a:ext cx="334154" cy="615705"/>
          </a:xfrm>
          <a:prstGeom prst="line">
            <a:avLst/>
          </a:prstGeom>
          <a:ln w="31750">
            <a:solidFill>
              <a:srgbClr val="C94F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1208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7A7870"/>
                </a:solidFill>
                <a:latin typeface="DM Sans"/>
              </a:rPr>
              <a:t>↓</a:t>
            </a:r>
          </a:p>
        </p:txBody>
      </p:sp>
      <p:pic>
        <p:nvPicPr>
          <p:cNvPr id="12" name="Picture 11" descr="opgave-produ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840480"/>
            <a:ext cx="5852160" cy="467799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 flipV="1">
            <a:off x="3923708" y="3803904"/>
            <a:ext cx="300071" cy="540950"/>
          </a:xfrm>
          <a:prstGeom prst="line">
            <a:avLst/>
          </a:prstGeom>
          <a:ln w="31750">
            <a:solidFill>
              <a:srgbClr val="C94F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23360" y="502920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FB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800" b="1">
                <a:solidFill>
                  <a:srgbClr val="C94F4A"/>
                </a:solidFill>
                <a:latin typeface="DM Sans"/>
              </a:rPr>
              <a:t>Productregel!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25535" y="20116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>
                <a:solidFill>
                  <a:srgbClr val="1A1A18"/>
                </a:solidFill>
                <a:latin typeface="DM Serif Display"/>
              </a:rPr>
              <a:t>afgeleide</a:t>
            </a:r>
            <a:r>
              <a:rPr sz="1800" b="0">
                <a:solidFill>
                  <a:srgbClr val="2D6A4F"/>
                </a:solidFill>
                <a:latin typeface="DM Serif Display"/>
              </a:rPr>
              <a:t>oefenen</a:t>
            </a:r>
            <a:r>
              <a:rPr sz="1800" b="0">
                <a:solidFill>
                  <a:srgbClr val="1A1A18"/>
                </a:solidFill>
                <a:latin typeface="DM Serif Display"/>
              </a:rPr>
              <a:t>.nl</a:t>
            </a:r>
          </a:p>
        </p:txBody>
      </p:sp>
      <p:pic>
        <p:nvPicPr>
          <p:cNvPr id="3" name="Picture 2" descr="aaf-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895" y="4526280"/>
            <a:ext cx="163576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22860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A1A18"/>
                </a:solidFill>
                <a:latin typeface="DM Serif Display"/>
              </a:rPr>
              <a:t>De </a:t>
            </a:r>
            <a:r>
              <a:rPr sz="3200" b="1">
                <a:solidFill>
                  <a:srgbClr val="C94F4A"/>
                </a:solidFill>
                <a:latin typeface="DM Serif Display"/>
              </a:rPr>
              <a:t>productregel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96012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gel-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170432"/>
            <a:ext cx="7498079" cy="34451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371600" y="20574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2D6A4F"/>
                </a:solidFill>
                <a:latin typeface="DM Sans"/>
              </a:rPr>
              <a:t>Stap 1 · kies g en 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0574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300" b="1">
                <a:solidFill>
                  <a:srgbClr val="2D6A4F"/>
                </a:solidFill>
                <a:latin typeface="DM Sans"/>
              </a:rPr>
              <a:t>Stap 2 · bepaal de afgeleiden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0574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300" b="1">
                <a:solidFill>
                  <a:srgbClr val="2D6A4F"/>
                </a:solidFill>
                <a:latin typeface="DM Sans"/>
              </a:rPr>
              <a:t>Stap 3 · vul de formule in</a:t>
            </a:r>
          </a:p>
        </p:txBody>
      </p:sp>
      <p:pic>
        <p:nvPicPr>
          <p:cNvPr id="10" name="Picture 9" descr="opgave-produ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697480"/>
            <a:ext cx="4754880" cy="380086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 flipV="1">
            <a:off x="4215570" y="2670048"/>
            <a:ext cx="246093" cy="434950"/>
          </a:xfrm>
          <a:prstGeom prst="line">
            <a:avLst/>
          </a:prstGeom>
          <a:ln w="31750">
            <a:solidFill>
              <a:srgbClr val="C94F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0" y="32004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7A7870"/>
                </a:solidFill>
                <a:latin typeface="DM Sans"/>
              </a:rPr>
              <a:t>zelfde regel — bij ons is de variabele q in plaats van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611880"/>
            <a:ext cx="310896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-d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3767328"/>
            <a:ext cx="2103120" cy="37328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669280" y="3611880"/>
            <a:ext cx="310896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-d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767328"/>
            <a:ext cx="2103120" cy="3687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08960" y="4160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7A7870"/>
                </a:solidFill>
                <a:latin typeface="DM Sans"/>
              </a:rPr>
              <a:t>↓</a:t>
            </a:r>
          </a:p>
        </p:txBody>
      </p:sp>
      <p:pic>
        <p:nvPicPr>
          <p:cNvPr id="18" name="Picture 17" descr="g-afgelei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4617720"/>
            <a:ext cx="1463040" cy="3331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49440" y="4160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7A7870"/>
                </a:solidFill>
                <a:latin typeface="DM Sans"/>
              </a:rPr>
              <a:t>↓</a:t>
            </a:r>
          </a:p>
        </p:txBody>
      </p:sp>
      <p:pic>
        <p:nvPicPr>
          <p:cNvPr id="20" name="Picture 19" descr="h-afgelei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617720"/>
            <a:ext cx="1463040" cy="326113"/>
          </a:xfrm>
          <a:prstGeom prst="rect">
            <a:avLst/>
          </a:prstGeom>
        </p:spPr>
      </p:pic>
      <p:pic>
        <p:nvPicPr>
          <p:cNvPr id="21" name="Picture 20" descr="invullen-abstrac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7520" y="5321808"/>
            <a:ext cx="4937760" cy="299626"/>
          </a:xfrm>
          <a:prstGeom prst="rect">
            <a:avLst/>
          </a:prstGeom>
        </p:spPr>
      </p:pic>
      <p:pic>
        <p:nvPicPr>
          <p:cNvPr id="22" name="Picture 21" descr="invullen-concree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0" y="5797296"/>
            <a:ext cx="5486400" cy="319023"/>
          </a:xfrm>
          <a:prstGeom prst="rect">
            <a:avLst/>
          </a:prstGeom>
        </p:spPr>
      </p:pic>
      <p:pic>
        <p:nvPicPr>
          <p:cNvPr id="23" name="Picture 22" descr="eindantwoor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0" y="6309360"/>
            <a:ext cx="3657600" cy="3728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